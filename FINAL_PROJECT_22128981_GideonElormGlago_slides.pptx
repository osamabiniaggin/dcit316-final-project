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400" b="1">
                <a:solidFill>
                  <a:srgbClr val="1C222B"/>
                </a:solidFill>
              </a:defRPr>
            </a:pPr>
            <a:r>
              <a:t>Translationese All the Way 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834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5A6370"/>
                </a:solidFill>
              </a:defRPr>
            </a:pPr>
            <a:r>
              <a:t>Auditing what "supports Twi" means in social media NLP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A6370"/>
                </a:solidFill>
              </a:defRPr>
            </a:pPr>
            <a:r>
              <a:t>Gideon Elorm Glago · 22128981</a:t>
            </a:r>
          </a:p>
          <a:p>
            <a:pPr>
              <a:spcAft>
                <a:spcPts val="800"/>
              </a:spcAft>
              <a:defRPr sz="1500" b="0">
                <a:solidFill>
                  <a:srgbClr val="5A6370"/>
                </a:solidFill>
              </a:defRPr>
            </a:pPr>
            <a:r>
              <a:t>DCIT 316: Computational Models for Social Media Mining · University of Ghana</a:t>
            </a:r>
          </a:p>
          <a:p>
            <a:pPr>
              <a:spcAft>
                <a:spcPts val="800"/>
              </a:spcAft>
              <a:defRPr sz="1500" b="0">
                <a:solidFill>
                  <a:srgbClr val="5A6370"/>
                </a:solidFill>
              </a:defRPr>
            </a:pPr>
            <a:r>
              <a:t>https://github.com/osamabinIaggin/dcit316-final-project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5482F"/>
                </a:solidFill>
              </a:defRPr>
            </a:pPr>
            <a:r>
              <a:t>The claims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C222B"/>
                </a:solidFill>
              </a:defRPr>
            </a:pPr>
            <a:r>
              <a:t>Twi is supported, according to the people who built the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C222B"/>
                </a:solidFill>
              </a:defRPr>
            </a:pPr>
            <a:r>
              <a:t>Google Translate added Twi and Ewe in 2022.</a:t>
            </a:r>
          </a:p>
          <a:p>
            <a:pPr>
              <a:spcAft>
                <a:spcPts val="800"/>
              </a:spcAft>
              <a:defRPr sz="2000" b="0">
                <a:solidFill>
                  <a:srgbClr val="1C222B"/>
                </a:solidFill>
              </a:defRPr>
            </a:pPr>
            <a:r>
              <a:t>Meta's NLLB-200 covers both. Its benchmark, FLORES-200, lists twi_Latn, aka_Latn and ewe_Latn.</a:t>
            </a:r>
          </a:p>
          <a:p>
            <a:pPr>
              <a:spcAft>
                <a:spcPts val="800"/>
              </a:spcAft>
              <a:defRPr sz="2000" b="0">
                <a:solidFill>
                  <a:srgbClr val="1C222B"/>
                </a:solidFill>
              </a:defRPr>
            </a:pPr>
            <a:r>
              <a:t>AfriSenti, AfriHate and MasakhaNER 2.0 all list Twi.</a:t>
            </a:r>
          </a:p>
          <a:p>
            <a:pPr>
              <a:spcAft>
                <a:spcPts val="800"/>
              </a:spcAft>
              <a:defRPr sz="2000" b="0">
                <a:solidFill>
                  <a:srgbClr val="1C222B"/>
                </a:solidFill>
              </a:defRPr>
            </a:pPr>
            <a:r>
              <a:t>From Accra, it looks as if the tools exist. This project checks what they do with Twi as people write it online.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5482F"/>
                </a:solidFill>
              </a:defRPr>
            </a:pPr>
            <a: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C222B"/>
                </a:solidFill>
              </a:defRPr>
            </a:pPr>
            <a:r>
              <a:t>Three research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C222B"/>
                </a:solidFill>
              </a:defRPr>
            </a:pPr>
            <a:r>
              <a:t>RQ1 (accountability). What do the resources that claim Twi disclose about which Twi, where the text came from, who labelled it and how much they agreed?</a:t>
            </a:r>
          </a:p>
          <a:p>
            <a:pPr>
              <a:spcAft>
                <a:spcPts val="800"/>
              </a:spcAft>
              <a:defRPr sz="2000" b="0">
                <a:solidFill>
                  <a:srgbClr val="1C222B"/>
                </a:solidFill>
              </a:defRPr>
            </a:pPr>
            <a:r>
              <a:t>RQ2 (distribution). How far is the text those claims are measured on from Twi on social media?</a:t>
            </a:r>
          </a:p>
          <a:p>
            <a:pPr>
              <a:spcAft>
                <a:spcPts val="800"/>
              </a:spcAft>
              <a:defRPr sz="2000" b="0">
                <a:solidFill>
                  <a:srgbClr val="1C222B"/>
                </a:solidFill>
              </a:defRPr>
            </a:pPr>
            <a:r>
              <a:t>RQ3 (capability). How do the tools a Ghanaian analyst would reach for perform on natively written Twi tweets, against a baseline trained on Twi?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5482F"/>
                </a:solidFill>
              </a:defRPr>
            </a:pPr>
            <a:r>
              <a:t>Finding 1 ·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C222B"/>
                </a:solidFill>
              </a:defRPr>
            </a:pPr>
            <a:r>
              <a:t>Ga, the language of Accra, is in none of it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6424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0605"/>
                <a:gridCol w="1580605"/>
                <a:gridCol w="1580605"/>
                <a:gridCol w="1580605"/>
                <a:gridCol w="1580605"/>
                <a:gridCol w="1580605"/>
                <a:gridCol w="1580610"/>
              </a:tblGrid>
              <a:tr h="347472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FLORES-200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MasakhaNER 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AfriSenti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AfriHate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Google Tr.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NLLB-200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Twi / Akan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yes (2 files)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Ewe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no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657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5A6370"/>
                </a:solidFill>
              </a:defRPr>
            </a:pPr>
            <a:r>
              <a:t>Ewe has benchmarks but no social media data at all. Ga has nothing to evaluate on and nothing to train 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5482F"/>
                </a:solidFill>
              </a:defRPr>
            </a:pPr>
            <a:r>
              <a:t>Finding 2 · provenance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C222B"/>
                </a:solidFill>
              </a:defRPr>
            </a:pPr>
            <a:r>
              <a:t>The Twi benchmarks are translations into Twi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1106424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3291840"/>
                <a:gridCol w="1828800"/>
                <a:gridCol w="2011680"/>
                <a:gridCol w="1463040"/>
              </a:tblGrid>
              <a:tr h="347472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Corpus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Natively written?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Tokens using ɛ/ɔ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Texts writing 3 for 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Mean tokens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FLORES-200 twi_Latn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No, translated English Wikipedia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28.5%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25.3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MasakhaNER 2.0 twi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No, MAFAND-MT translated news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34.6%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23.4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AfriSenti twi (tweets)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42.5%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9.3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5661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5A6370"/>
                </a:solidFill>
              </a:defRPr>
            </a:pPr>
            <a:r>
              <a:t>FLORES Twi vocabulary covers 15% of the word types in the tweets.</a:t>
            </a:r>
          </a:p>
          <a:p>
            <a:pPr>
              <a:spcAft>
                <a:spcPts val="800"/>
              </a:spcAft>
              <a:defRPr sz="1700" b="0">
                <a:solidFill>
                  <a:srgbClr val="5A6370"/>
                </a:solidFill>
              </a:defRPr>
            </a:pPr>
            <a:r>
              <a:t>FLORES aka_Latn and twi_Latn are separate translations: 8 of 2009 lines identical. Neither says which dialect it 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5482F"/>
                </a:solidFill>
              </a:defRPr>
            </a:pPr>
            <a:r>
              <a:t>Finding 3 · accountability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C222B"/>
                </a:solidFill>
              </a:defRPr>
            </a:pPr>
            <a:r>
              <a:t>What the documentation lets you check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463040"/>
          <a:ext cx="1143000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103120"/>
                <a:gridCol w="1920240"/>
                <a:gridCol w="2286000"/>
                <a:gridCol w="2286000"/>
              </a:tblGrid>
              <a:tr h="347472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Criterion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FLORES-200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AfriSenti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AfriHate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MasakhaNER 2.0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A1 Language referent precise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no dialect named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no dialect named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no dialect named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merges 'Akan/Twi'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A2 Natively written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translated (Wikipedia)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YES - tweets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YES - tweets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translated (MAFAND-MT)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A3 Native-speaker annotators stated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human-verified translation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yes, explicit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A4 Agreement reported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yes, k=0.51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yes, 0.46-0.81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yes, k=0.932 POST-ADJUDICATION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A5 Compensation disclosed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not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not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yes - 'more than the minimum wage'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yes - all annotators remunerated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A6 Datasheet / data statement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not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not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not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not found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572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A6370"/>
                </a:solidFill>
              </a:defRPr>
            </a:pPr>
            <a:r>
              <a:t>No resource ships a datasheet. MasakhaNER's kappa is measured after adjudication; AfriSenti's is not, so the two numbers cannot be compared.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5482F"/>
                </a:solidFill>
              </a:defRPr>
            </a:pPr>
            <a:r>
              <a:t>RQ3 ·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C222B"/>
                </a:solidFill>
              </a:defRPr>
            </a:pPr>
            <a:r>
              <a:t>Method: five systems, one baseline, 949 test tweets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C222B"/>
                </a:solidFill>
              </a:defRPr>
            </a:pPr>
            <a:r>
              <a:t>Data: AfriSenti Twi. Train 3,481, dev 388, test 949. C tuned on dev; test used once.</a:t>
            </a:r>
          </a:p>
          <a:p>
            <a:pPr>
              <a:spcAft>
                <a:spcPts val="800"/>
              </a:spcAft>
              <a:defRPr sz="1700" b="0">
                <a:solidFill>
                  <a:srgbClr val="1C222B"/>
                </a:solidFill>
              </a:defRPr>
            </a:pPr>
            <a:r>
              <a:t>Baseline: TF-IDF (character 2-5 grams + words) with logistic regression, trained on Twi.</a:t>
            </a:r>
          </a:p>
          <a:p>
            <a:pPr>
              <a:spcAft>
                <a:spcPts val="800"/>
              </a:spcAft>
              <a:defRPr sz="1700" b="0">
                <a:solidFill>
                  <a:srgbClr val="1C222B"/>
                </a:solidFill>
              </a:defRPr>
            </a:pPr>
            <a:r>
              <a:t>English-only: Twitter-RoBERTa, the tool an analyst reaches for by default.</a:t>
            </a:r>
          </a:p>
          <a:p>
            <a:pPr>
              <a:spcAft>
                <a:spcPts val="800"/>
              </a:spcAft>
              <a:defRPr sz="1700" b="0">
                <a:solidFill>
                  <a:srgbClr val="1C222B"/>
                </a:solidFill>
              </a:defRPr>
            </a:pPr>
            <a:r>
              <a:t>Multilingual: XLM-T, zero-shot (trained on 8 languages, none of them Twi).</a:t>
            </a:r>
          </a:p>
          <a:p>
            <a:pPr>
              <a:spcAft>
                <a:spcPts val="800"/>
              </a:spcAft>
              <a:defRPr sz="1700" b="0">
                <a:solidFill>
                  <a:srgbClr val="1C222B"/>
                </a:solidFill>
              </a:defRPr>
            </a:pPr>
            <a:r>
              <a:t>Translate then classify: NLLB-200 Twi to English, then the English model. Run twice, declaring the source as twi_Latn and as aka_Latn.</a:t>
            </a:r>
          </a:p>
          <a:p>
            <a:pPr>
              <a:spcAft>
                <a:spcPts val="800"/>
              </a:spcAft>
              <a:defRPr sz="1700" b="0">
                <a:solidFill>
                  <a:srgbClr val="1C222B"/>
                </a:solidFill>
              </a:defRPr>
            </a:pPr>
            <a:r>
              <a:t>Metrics: macro-F1 with 95% bootstrap CI, McNemar against the baseline, and the share of positive or negative tweets called neutral.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5482F"/>
                </a:solidFill>
              </a:defRPr>
            </a:pPr>
            <a:r>
              <a:t>RQ3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C222B"/>
                </a:solidFill>
              </a:defRPr>
            </a:pPr>
            <a:r>
              <a:t>A small model trained on Twi beats every off-the-shelf system tested</a:t>
            </a:r>
          </a:p>
        </p:txBody>
      </p:sp>
      <p:pic>
        <p:nvPicPr>
          <p:cNvPr id="4" name="Picture 3" descr="fig2_macro_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7498079" cy="35285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C222B"/>
                </a:solidFill>
              </a:defRPr>
            </a:pPr>
            <a:r>
              <a:t>Baseline 0.593</a:t>
            </a:r>
          </a:p>
          <a:p>
            <a:pPr>
              <a:spcAft>
                <a:spcPts val="800"/>
              </a:spcAft>
              <a:defRPr sz="1800" b="0">
                <a:solidFill>
                  <a:srgbClr val="1C222B"/>
                </a:solidFill>
              </a:defRPr>
            </a:pPr>
            <a:r>
              <a:t>XLM-T 0.337</a:t>
            </a:r>
          </a:p>
          <a:p>
            <a:pPr>
              <a:spcAft>
                <a:spcPts val="800"/>
              </a:spcAft>
              <a:defRPr sz="1800" b="0">
                <a:solidFill>
                  <a:srgbClr val="1C222B"/>
                </a:solidFill>
              </a:defRPr>
            </a:pPr>
            <a:r>
              <a:t>NLLB twi 0.373</a:t>
            </a:r>
          </a:p>
          <a:p>
            <a:pPr>
              <a:spcAft>
                <a:spcPts val="800"/>
              </a:spcAft>
              <a:defRPr sz="1800" b="0">
                <a:solidFill>
                  <a:srgbClr val="1C222B"/>
                </a:solidFill>
              </a:defRPr>
            </a:pPr>
            <a:r>
              <a:t>English-only 0.243</a:t>
            </a:r>
          </a:p>
          <a:p>
            <a:pPr>
              <a:spcAft>
                <a:spcPts val="800"/>
              </a:spcAft>
              <a:defRPr sz="1800" b="0">
                <a:solidFill>
                  <a:srgbClr val="1C222B"/>
                </a:solidFill>
              </a:defRPr>
            </a:pPr>
            <a:r>
              <a:t>Majority 0.214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5482F"/>
                </a:solidFill>
              </a:defRPr>
            </a:pPr>
            <a:r>
              <a:t>RQ3 · the silent failure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C222B"/>
                </a:solidFill>
              </a:defRPr>
            </a:pPr>
            <a:r>
              <a:t>English-only tools turn Twi into neutral</a:t>
            </a:r>
          </a:p>
        </p:txBody>
      </p:sp>
      <p:pic>
        <p:nvPicPr>
          <p:cNvPr id="4" name="Picture 3" descr="fig3_neutral_collap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7498079" cy="33520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C222B"/>
                </a:solidFill>
              </a:defRPr>
            </a:pPr>
            <a:r>
              <a:t>Gold neutral rate: 15.4%</a:t>
            </a:r>
          </a:p>
          <a:p>
            <a:pPr>
              <a:spcAft>
                <a:spcPts val="800"/>
              </a:spcAft>
              <a:defRPr sz="1700" b="0">
                <a:solidFill>
                  <a:srgbClr val="1C222B"/>
                </a:solidFill>
              </a:defRPr>
            </a:pPr>
            <a:r>
              <a:t>English-only predicts neutral 84.2% of the time</a:t>
            </a:r>
          </a:p>
          <a:p>
            <a:pPr>
              <a:spcAft>
                <a:spcPts val="800"/>
              </a:spcAft>
              <a:defRPr sz="1700" b="0">
                <a:solidFill>
                  <a:srgbClr val="1C222B"/>
                </a:solidFill>
              </a:defRPr>
            </a:pPr>
            <a:r>
              <a:t>and calls 83.3% of positive or negative tweets neutral.</a:t>
            </a:r>
          </a:p>
          <a:p>
            <a:pPr>
              <a:spcAft>
                <a:spcPts val="800"/>
              </a:spcAft>
              <a:defRPr sz="1700" b="0">
                <a:solidFill>
                  <a:srgbClr val="1C222B"/>
                </a:solidFill>
              </a:defRPr>
            </a:pPr>
            <a:r>
              <a:t>Its output carries no warning that anything went wrong.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5482F"/>
                </a:solidFill>
              </a:defRPr>
            </a:pPr>
            <a:r>
              <a:t>Error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C222B"/>
                </a:solidFill>
              </a:defRPr>
            </a:pPr>
            <a:r>
              <a:t>Where the systems break</a:t>
            </a:r>
          </a:p>
        </p:txBody>
      </p:sp>
      <p:pic>
        <p:nvPicPr>
          <p:cNvPr id="4" name="Picture 3" descr="fig5_sl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6949440" cy="37608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554480"/>
            <a:ext cx="4389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C222B"/>
                </a:solidFill>
              </a:defRPr>
            </a:pPr>
            <a:r>
              <a:t>Changing only the declared source (twi_Latn vs aka_Latn) changes the translation of 829 of 949 tweets and the final label of 243.</a:t>
            </a:r>
          </a:p>
          <a:p>
            <a:pPr>
              <a:spcAft>
                <a:spcPts val="800"/>
              </a:spcAft>
              <a:defRPr sz="1400" b="0">
                <a:solidFill>
                  <a:srgbClr val="1C222B"/>
                </a:solidFill>
              </a:defRPr>
            </a:pPr>
            <a:r>
              <a:t>Tested by removing emoji: 98 of the English model's 125 non-neutral calls on emoji tweets turn neutral.</a:t>
            </a:r>
          </a:p>
          <a:p>
            <a:pPr>
              <a:spcAft>
                <a:spcPts val="800"/>
              </a:spcAft>
              <a:defRPr sz="1400" b="0">
                <a:solidFill>
                  <a:srgbClr val="1C222B"/>
                </a:solidFill>
              </a:defRPr>
            </a:pPr>
            <a:r>
              <a:t>Rewriting 3 as ɛ stops NLLB copying it but does not significantly help the pipeline (p = 0.76); it does help XLM-T (p = 0.027).</a:t>
            </a:r>
          </a:p>
          <a:p>
            <a:pPr>
              <a:spcAft>
                <a:spcPts val="800"/>
              </a:spcAft>
              <a:defRPr sz="1400" b="0">
                <a:solidFill>
                  <a:srgbClr val="1C222B"/>
                </a:solidFill>
              </a:defRPr>
            </a:pPr>
            <a:r>
              <a:t>132 tweets defeat the baseline, XLM-T and NLLB alike.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5482F"/>
                </a:solidFill>
              </a:defRPr>
            </a:pPr>
            <a:r>
              <a:t>Responsible claims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C222B"/>
                </a:solidFill>
              </a:defRPr>
            </a:pPr>
            <a: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C222B"/>
                </a:solidFill>
              </a:defRPr>
            </a:pPr>
            <a:r>
              <a:t>"Not reported" means not verifiable from the public record, not that the practice was absent.</a:t>
            </a:r>
          </a:p>
          <a:p>
            <a:pPr>
              <a:spcAft>
                <a:spcPts val="800"/>
              </a:spcAft>
              <a:defRPr sz="1700" b="0">
                <a:solidFill>
                  <a:srgbClr val="1C222B"/>
                </a:solidFill>
              </a:defRPr>
            </a:pPr>
            <a:r>
              <a:t>I do not read Twi well enough to judge translations, so translation results are about sentiment lost, not translation errors.</a:t>
            </a:r>
          </a:p>
          <a:p>
            <a:pPr>
              <a:spcAft>
                <a:spcPts val="800"/>
              </a:spcAft>
              <a:defRPr sz="1700" b="0">
                <a:solidFill>
                  <a:srgbClr val="1C222B"/>
                </a:solidFill>
              </a:defRPr>
            </a:pPr>
            <a:r>
              <a:t>One labelled Twi social corpus exists, with kappa 0.51. Every result inherits its label noise.</a:t>
            </a:r>
          </a:p>
          <a:p>
            <a:pPr>
              <a:spcAft>
                <a:spcPts val="800"/>
              </a:spcAft>
              <a:defRPr sz="1700" b="0">
                <a:solidFill>
                  <a:srgbClr val="1C222B"/>
                </a:solidFill>
              </a:defRPr>
            </a:pPr>
            <a:r>
              <a:t>Google Translate was not tested (no API key). Ewe and Ga could not be evaluated: no data.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5482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C222B"/>
                </a:solidFill>
              </a:defRPr>
            </a:pPr>
            <a:r>
              <a:t>What Ghanaian social media mining needs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C222B"/>
                </a:solidFill>
              </a:defRPr>
            </a:pPr>
            <a:r>
              <a:t>Twi capability claims rest on text translated into Twi. The only natively written labelled corpus is 4,818 tweets, and off-the-shelf tools fail on it in a way that looks like neutrality.</a:t>
            </a:r>
          </a:p>
          <a:p>
            <a:pPr>
              <a:spcAft>
                <a:spcPts val="800"/>
              </a:spcAft>
              <a:defRPr sz="1900" b="0">
                <a:solidFill>
                  <a:srgbClr val="1C222B"/>
                </a:solidFill>
              </a:defRPr>
            </a:pPr>
            <a:r>
              <a:t>On that corpus, a small model trained on Twi scored far above every off-the-shelf system tested.</a:t>
            </a:r>
          </a:p>
          <a:p>
            <a:pPr>
              <a:spcAft>
                <a:spcPts val="800"/>
              </a:spcAft>
              <a:defRPr sz="1900" b="0">
                <a:solidFill>
                  <a:srgbClr val="1C222B"/>
                </a:solidFill>
              </a:defRPr>
            </a:pPr>
            <a:r>
              <a:t>Needed: a Ga corpus, a larger natively written Twi corpus, a convention for naming the variety, and agreement scores reported in comparable 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B5482F"/>
                </a:solidFill>
              </a:defRPr>
            </a:pPr>
            <a:r>
              <a:t>Code, data manifests and notebooks: https://github.com/osamabinIaggin/dcit316-final-project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